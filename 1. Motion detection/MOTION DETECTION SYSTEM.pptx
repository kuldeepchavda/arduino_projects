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94660"/>
  </p:normalViewPr>
  <p:slideViewPr>
    <p:cSldViewPr snapToGrid="0">
      <p:cViewPr>
        <p:scale>
          <a:sx n="75" d="100"/>
          <a:sy n="75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C71C-81B0-19F9-7691-72E2CA879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9E1DF-63A6-561F-BC7A-3C983F579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9C6BA-2128-BF4A-A15D-647F3627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5B0BF-350A-7EB6-53B7-ABE7D856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D3E1-7799-F069-1D91-9B6748DF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1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CAE2-3512-2383-B30C-087487F6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6598-3DCF-8A62-2DF6-17EB9C790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8D76E-8F20-A66D-F0F5-9E74ABD8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0B372-FA52-D8CB-76B7-88AA8C8A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CA7D1-C60E-6B8E-7575-D7B06489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37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B754-FA62-5341-B4C3-1B6693EB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4BC9A-4CD7-761F-A3B1-DB1667BE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607E6-8A18-D62B-1507-6E93C420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F8BD-597B-34D9-7A0C-D1B36C2B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737FE-E664-14E2-15D7-6D9AC237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6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030B-CF2A-EF22-CF31-8E11B2A8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A914F-B6C2-E04D-CA2A-B41B1F280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5DE69-29CB-EA7A-2D06-EA493930C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B871F-6E94-4531-6E7D-C2421D5C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A9D7D-5557-5365-87E8-4BCECCE3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F3C2-1B36-5F0B-9422-6642177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2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F08C-8FE7-7313-F819-4312E9F5D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EA55C-BB57-9677-7790-68ED94C97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F0650-385E-4092-07EA-C9A99A4E1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8E8C8-C9CC-7734-1DE4-9CA1A0871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E0706-7B09-1A7D-CE17-611B5970F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6EA5C-9AFE-9681-CF4E-D5E4E88A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1A304-8EC5-5E1B-1AC6-A5C52EDF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03A8D-820C-4C1B-DEFA-5F685123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5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1522-7AE5-0F42-2B52-5E1C5D27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91F2D-4900-E1A5-92BA-880BA3A3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9352-F723-C9A5-FE82-7397393B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4A3B9-F71D-DC8E-AFA7-5809E2AF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8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6BFDF-3FC4-D128-C675-74DC588F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78553-8C29-495A-8331-73CA1B87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EE765-E925-E33A-A233-52FD85B1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AA6D-C123-0003-C0E2-6B28F51D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B1FFD-9EF8-8D8D-539A-ABD46AC5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11BF1-D622-A524-DCD2-EC200479D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2AF7-FDEB-A2BA-10AE-FB557E55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5413C-20C9-5220-446C-EA1BE163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1AB45-CA42-8F54-BA97-205FB02A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13F70-31AD-4473-28B3-6732BF54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13296-83FF-0B13-29CC-08FE070C6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2FE8C-F2D3-C013-0362-06140ED09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8F911-8340-09F7-C802-D1DA1914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53CF7-C866-D133-EA93-19C18DB6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1156F-42E8-A465-0870-89717E04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92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5984-CD85-E3FB-7C9F-05276930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3F6BB-A9DC-578A-B116-558BF7A8B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5560-E7D5-B286-FBC2-065139A3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BEB32-A3B7-FE35-14FC-9BCBBA2F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24860-B9DE-E6EB-1C46-0CBD9705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9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4D351-7559-0D2B-7A95-2C21E0C3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80D73-AEA7-961C-0241-F609DAA33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3191F-8627-18FC-EC1D-14BCD841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19841-520F-7CC5-172D-BF7F3AF2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04D7A-D4A4-3A4D-266D-2D134459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9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CF6C64-A73E-957E-FF43-2C91943C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BBE03-357D-A321-3B8C-A1767C291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C4D9-AD6C-FD72-AD2F-6F8DC9474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D9B8-6CFA-453D-B6E2-D97CA4CCCF1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3580-E662-BAC1-8555-975BDC903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50CBB-246A-00D3-5A24-CDDDB4610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88657-51F4-4061-AAFF-6C72CD1B7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19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FFAC-A03A-9E6F-DF9A-4580BE4F2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213" y="555074"/>
            <a:ext cx="9876395" cy="1034428"/>
          </a:xfrm>
        </p:spPr>
        <p:txBody>
          <a:bodyPr/>
          <a:lstStyle/>
          <a:p>
            <a:r>
              <a:rPr lang="en-IN" dirty="0"/>
              <a:t>Motion Detection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637C6-5666-9999-813E-114FC52DD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13" y="2216425"/>
            <a:ext cx="4284873" cy="280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3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8A177F0-1945-BC7D-33BB-0B138AADFF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27921" y="1645919"/>
            <a:ext cx="6013840" cy="3933793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1270000" dir="5400000" algn="ctr" rotWithShape="0">
              <a:srgbClr val="000000">
                <a:alpha val="43137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1FC15C-18CF-A1CA-2FF4-BBB3768F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5600" cy="8746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Motion Detection System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0BFAE9-A56B-E192-475E-490A5AF10A7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1676" y="2183827"/>
            <a:ext cx="452734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Detects movement of humans or animals in an </a:t>
            </a:r>
            <a:r>
              <a:rPr lang="en-US" altLang="en-US" sz="2000" dirty="0">
                <a:latin typeface="Aptos" panose="020B00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Uses a PIR sensor to sense motion.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Arduino processes the sensor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Can trigger alarms, lights, or displays.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Used in security and automation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29755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FD9D-51A3-F2E7-F9C6-979AC402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772" y="987425"/>
            <a:ext cx="3932237" cy="817880"/>
          </a:xfrm>
        </p:spPr>
        <p:txBody>
          <a:bodyPr/>
          <a:lstStyle/>
          <a:p>
            <a:r>
              <a:rPr lang="en-IN" dirty="0"/>
              <a:t>PIR Sensor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20FF073-2F17-5737-F62F-9AEE251063E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49948" y="2147315"/>
            <a:ext cx="5246052" cy="3631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motion by sensing infrared radiation.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bodies emit infrared energy.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IR levels change, sensor outputs a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motion alarms and automatic lighting.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4" descr="PIR Motion Detector Sensor Module | Rathy Electronics">
            <a:extLst>
              <a:ext uri="{FF2B5EF4-FFF2-40B4-BE49-F238E27FC236}">
                <a16:creationId xmlns:a16="http://schemas.microsoft.com/office/drawing/2014/main" id="{0BAA30B3-C7EE-A4C0-CB35-A9D0497647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083" y="1328737"/>
            <a:ext cx="4762500" cy="4200525"/>
          </a:xfrm>
          <a:prstGeom prst="rect">
            <a:avLst/>
          </a:prstGeom>
          <a:noFill/>
          <a:effectLst>
            <a:outerShdw blurRad="1270000" dist="50800" dir="5400000" algn="ctr" rotWithShape="0">
              <a:srgbClr val="000000">
                <a:alpha val="43137"/>
              </a:srgbClr>
            </a:outerShdw>
            <a:reflection blurRad="1270000" stA="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86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2033-307D-AB44-C293-4EAEC207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28" y="402272"/>
            <a:ext cx="3932237" cy="746760"/>
          </a:xfrm>
        </p:spPr>
        <p:txBody>
          <a:bodyPr/>
          <a:lstStyle/>
          <a:p>
            <a:r>
              <a:rPr lang="en-IN" dirty="0"/>
              <a:t>PIR Sensor Pins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97C02-B577-71B9-D4CA-694A28BE9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27" y="2219960"/>
            <a:ext cx="3932237" cy="3811588"/>
          </a:xfrm>
        </p:spPr>
        <p:txBody>
          <a:bodyPr>
            <a:normAutofit/>
          </a:bodyPr>
          <a:lstStyle/>
          <a:p>
            <a:r>
              <a:rPr lang="en-US" sz="1800" b="1" dirty="0"/>
              <a:t>GND</a:t>
            </a:r>
            <a:r>
              <a:rPr lang="en-US" sz="1800" dirty="0"/>
              <a:t> – Ground connection for circuit completion.</a:t>
            </a:r>
          </a:p>
          <a:p>
            <a:r>
              <a:rPr lang="en-US" sz="1800" b="1" dirty="0"/>
              <a:t>VCC</a:t>
            </a:r>
            <a:r>
              <a:rPr lang="en-US" sz="1800" dirty="0"/>
              <a:t> – Power supply input (5V).</a:t>
            </a:r>
          </a:p>
          <a:p>
            <a:r>
              <a:rPr lang="en-US" sz="1800" b="1" dirty="0"/>
              <a:t>Signal/OUT</a:t>
            </a:r>
            <a:r>
              <a:rPr lang="en-US" sz="1800" dirty="0"/>
              <a:t> – Sends motion detection signal.</a:t>
            </a:r>
          </a:p>
          <a:p>
            <a:r>
              <a:rPr lang="en-US" sz="1800" dirty="0"/>
              <a:t>Signal becomes HIGH when motion is detected.</a:t>
            </a:r>
          </a:p>
          <a:p>
            <a:endParaRPr lang="en-IN" sz="1800" dirty="0"/>
          </a:p>
        </p:txBody>
      </p:sp>
      <p:pic>
        <p:nvPicPr>
          <p:cNvPr id="4098" name="Picture 2" descr="Arduino Pir Sensor Interfacing With Arduino Uno | Arduino">
            <a:extLst>
              <a:ext uri="{FF2B5EF4-FFF2-40B4-BE49-F238E27FC236}">
                <a16:creationId xmlns:a16="http://schemas.microsoft.com/office/drawing/2014/main" id="{AF76DC17-1787-E1A8-8E37-D2BF083C6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04" t="9559" r="50727" b="27455"/>
          <a:stretch>
            <a:fillRect/>
          </a:stretch>
        </p:blipFill>
        <p:spPr bwMode="auto">
          <a:xfrm>
            <a:off x="5183188" y="1270122"/>
            <a:ext cx="6172200" cy="4308230"/>
          </a:xfrm>
          <a:prstGeom prst="rect">
            <a:avLst/>
          </a:prstGeom>
          <a:noFill/>
          <a:effectLst>
            <a:outerShdw blurRad="12700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39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0F9A-5302-437D-8732-5820D80E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987425"/>
            <a:ext cx="3932237" cy="1046480"/>
          </a:xfrm>
        </p:spPr>
        <p:txBody>
          <a:bodyPr/>
          <a:lstStyle/>
          <a:p>
            <a:r>
              <a:rPr lang="en-IN" dirty="0"/>
              <a:t>Circuit Connections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3849F-15A5-24D7-E610-60DF9F476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PIR </a:t>
            </a:r>
            <a:r>
              <a:rPr lang="en-IN" b="1" dirty="0"/>
              <a:t>GND → Arduino GND</a:t>
            </a:r>
            <a:endParaRPr lang="en-IN" dirty="0"/>
          </a:p>
          <a:p>
            <a:r>
              <a:rPr lang="en-IN" dirty="0"/>
              <a:t>PIR </a:t>
            </a:r>
            <a:r>
              <a:rPr lang="en-IN" b="1" dirty="0"/>
              <a:t>VCC → Arduino 5V</a:t>
            </a:r>
            <a:endParaRPr lang="en-IN" dirty="0"/>
          </a:p>
          <a:p>
            <a:r>
              <a:rPr lang="en-IN" dirty="0"/>
              <a:t>PIR </a:t>
            </a:r>
            <a:r>
              <a:rPr lang="en-IN" b="1" dirty="0"/>
              <a:t>Signal → Arduino Digital Input Pin</a:t>
            </a:r>
            <a:endParaRPr lang="en-IN" dirty="0"/>
          </a:p>
          <a:p>
            <a:r>
              <a:rPr lang="en-IN" dirty="0"/>
              <a:t>Optional: connect LED or buzzer for indication.</a:t>
            </a:r>
          </a:p>
          <a:p>
            <a:endParaRPr lang="en-IN" dirty="0"/>
          </a:p>
        </p:txBody>
      </p:sp>
      <p:pic>
        <p:nvPicPr>
          <p:cNvPr id="5" name="Picture 2" descr="Arduino Pir Sensor Interfacing With Arduino Uno | Arduino">
            <a:extLst>
              <a:ext uri="{FF2B5EF4-FFF2-40B4-BE49-F238E27FC236}">
                <a16:creationId xmlns:a16="http://schemas.microsoft.com/office/drawing/2014/main" id="{591ED239-7F0E-C285-1984-FE315A0B2B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270122"/>
            <a:ext cx="6172200" cy="4308230"/>
          </a:xfrm>
          <a:prstGeom prst="rect">
            <a:avLst/>
          </a:prstGeom>
          <a:noFill/>
          <a:effectLst>
            <a:outerShdw blurRad="12700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650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59F4-5C9B-9952-1A36-830B4C62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4DC74-10B2-EFEC-FF01-87A33AE39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75" r="1575"/>
          <a:stretch>
            <a:fillRect/>
          </a:stretch>
        </p:blipFill>
        <p:spPr>
          <a:xfrm>
            <a:off x="4861558" y="734080"/>
            <a:ext cx="5227322" cy="5835709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04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C2A5-BBF4-9EAD-FC6A-BC518455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28" y="1038097"/>
            <a:ext cx="3932237" cy="802640"/>
          </a:xfrm>
        </p:spPr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097A6-BB58-62D6-2023-D25582EFD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28" y="2504440"/>
            <a:ext cx="5256212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continuously monitors infrared radiation.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Movement causes change in IR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PIR outputs HIGH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Arduino detects signal and triggers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shown via LED, buzzer, or display.</a:t>
            </a:r>
          </a:p>
        </p:txBody>
      </p:sp>
      <p:pic>
        <p:nvPicPr>
          <p:cNvPr id="5122" name="Picture 2" descr="22,700+ Movement Sensor Stock Illustrations, Royalty-Free Vector Graphics &amp;  Clip Art - iStock">
            <a:extLst>
              <a:ext uri="{FF2B5EF4-FFF2-40B4-BE49-F238E27FC236}">
                <a16:creationId xmlns:a16="http://schemas.microsoft.com/office/drawing/2014/main" id="{815A3655-B387-6F82-D959-6EA23B084C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508" y="1439417"/>
            <a:ext cx="3811588" cy="3811588"/>
          </a:xfrm>
          <a:prstGeom prst="rect">
            <a:avLst/>
          </a:prstGeom>
          <a:noFill/>
          <a:effectLst>
            <a:outerShdw blurRad="876300"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152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1E7B-4104-5A50-B0FB-7D374487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57200"/>
            <a:ext cx="6604000" cy="1005840"/>
          </a:xfrm>
        </p:spPr>
        <p:txBody>
          <a:bodyPr/>
          <a:lstStyle/>
          <a:p>
            <a:r>
              <a:rPr lang="en-US" dirty="0"/>
              <a:t>OVERALL SYSTEM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E625CB7-D63C-76BA-DD1D-446C3766D4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1127760" y="1463040"/>
            <a:ext cx="10601294" cy="51798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79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Motion Detection System</vt:lpstr>
      <vt:lpstr>Motion Detection System </vt:lpstr>
      <vt:lpstr>PIR Sensor</vt:lpstr>
      <vt:lpstr>PIR Sensor Pins</vt:lpstr>
      <vt:lpstr>Circuit Connections </vt:lpstr>
      <vt:lpstr>CODE.</vt:lpstr>
      <vt:lpstr>Working Principle</vt:lpstr>
      <vt:lpstr>OVERALL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kuldeepdzc@outlook.com</dc:creator>
  <cp:lastModifiedBy>kuldeepdzc@outlook.com</cp:lastModifiedBy>
  <cp:revision>1</cp:revision>
  <dcterms:created xsi:type="dcterms:W3CDTF">2026-02-13T01:23:13Z</dcterms:created>
  <dcterms:modified xsi:type="dcterms:W3CDTF">2026-02-13T01:23:13Z</dcterms:modified>
</cp:coreProperties>
</file>